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EC263B2-0C74-446F-8094-58CCA57E594C}" type="datetimeFigureOut">
              <a:rPr lang="en-IN" smtClean="0"/>
              <a:t>27-11-2025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3718417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263B2-0C74-446F-8094-58CCA57E594C}"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2729069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C263B2-0C74-446F-8094-58CCA57E594C}"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2669774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848181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C263B2-0C74-446F-8094-58CCA57E594C}" type="datetimeFigureOut">
              <a:rPr lang="en-IN" smtClean="0"/>
              <a:t>27-11-2025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2655061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C263B2-0C74-446F-8094-58CCA57E594C}"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2945346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263B2-0C74-446F-8094-58CCA57E594C}" type="datetimeFigureOut">
              <a:rPr lang="en-IN" smtClean="0"/>
              <a:t>27-11-2025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2686401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538718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3418530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354643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554122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6319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C263B2-0C74-446F-8094-58CCA57E594C}"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1147168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EC263B2-0C74-446F-8094-58CCA57E594C}"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24620941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EC263B2-0C74-446F-8094-58CCA57E594C}"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1321662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263B2-0C74-446F-8094-58CCA57E594C}"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3116590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263B2-0C74-446F-8094-58CCA57E594C}"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C28556-A5B8-44FF-AD30-9EF21272277A}" type="slidenum">
              <a:rPr lang="en-IN" smtClean="0"/>
              <a:t>‹#›</a:t>
            </a:fld>
            <a:endParaRPr lang="en-IN"/>
          </a:p>
        </p:txBody>
      </p:sp>
    </p:spTree>
    <p:extLst>
      <p:ext uri="{BB962C8B-B14F-4D97-AF65-F5344CB8AC3E}">
        <p14:creationId xmlns:p14="http://schemas.microsoft.com/office/powerpoint/2010/main" val="56977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EC263B2-0C74-446F-8094-58CCA57E594C}" type="datetimeFigureOut">
              <a:rPr lang="en-IN" smtClean="0"/>
              <a:t>27-11-2025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4C28556-A5B8-44FF-AD30-9EF21272277A}" type="slidenum">
              <a:rPr lang="en-IN" smtClean="0"/>
              <a:t>‹#›</a:t>
            </a:fld>
            <a:endParaRPr lang="en-IN"/>
          </a:p>
        </p:txBody>
      </p:sp>
    </p:spTree>
    <p:extLst>
      <p:ext uri="{BB962C8B-B14F-4D97-AF65-F5344CB8AC3E}">
        <p14:creationId xmlns:p14="http://schemas.microsoft.com/office/powerpoint/2010/main" val="26537394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thulluri-ramya/Graduation-project-"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thulluri-ramya/Graduation-project-"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thulluri-ramya/Graduation-projec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thulluri-ramya/Graduation-projec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chive.ics.uci.edu/dataset/383/cervical+cancer+risk+factors" TargetMode="Externa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hyperlink" Target="https://github.com/thulluri-ramya/Graduation-project-" TargetMode="External"/><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hyperlink" Target="https://github.com/thulluri-ramya/Graduation-project-"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thulluri-ramya/Graduation-project-"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thulluri-ramya/Graduation-project-"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thulluri-ramya/Graduation-projec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thulluri-ramya/Graduation-projec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thulluri-ramya/Graduation-project-"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rchive.ics.uci.edu/dataset/383/cervical+cancer+risk+factors" TargetMode="External"/><Relationship Id="rId2" Type="http://schemas.openxmlformats.org/officeDocument/2006/relationships/hyperlink" Target="https://ieeexplore.ieee.org/abstract/document/10725056" TargetMode="External"/><Relationship Id="rId1" Type="http://schemas.openxmlformats.org/officeDocument/2006/relationships/slideLayout" Target="../slideLayouts/slideLayout2.xml"/><Relationship Id="rId5" Type="http://schemas.openxmlformats.org/officeDocument/2006/relationships/hyperlink" Target="https://github.com/thulluri-ramya/Graduation-project-" TargetMode="External"/><Relationship Id="rId4" Type="http://schemas.openxmlformats.org/officeDocument/2006/relationships/hyperlink" Target="https://www.sciencedirect.com/science/article/pii/S074920811730015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D150-62B0-1D99-A95C-01DA699406DA}"/>
              </a:ext>
            </a:extLst>
          </p:cNvPr>
          <p:cNvSpPr>
            <a:spLocks noGrp="1"/>
          </p:cNvSpPr>
          <p:nvPr>
            <p:ph type="ctrTitle"/>
          </p:nvPr>
        </p:nvSpPr>
        <p:spPr>
          <a:xfrm>
            <a:off x="2382716" y="263769"/>
            <a:ext cx="9671538" cy="2110154"/>
          </a:xfrm>
        </p:spPr>
        <p:txBody>
          <a:bodyPr/>
          <a:lstStyle/>
          <a:p>
            <a:r>
              <a:rPr lang="en-US" b="1" dirty="0">
                <a:solidFill>
                  <a:schemeClr val="bg1"/>
                </a:solidFill>
                <a:latin typeface="Times New Roman" panose="02020603050405020304" pitchFamily="18" charset="0"/>
                <a:cs typeface="Times New Roman" panose="02020603050405020304" pitchFamily="18" charset="0"/>
              </a:rPr>
              <a:t>From Behavior to Burden: Understanding Cervical </a:t>
            </a:r>
            <a:br>
              <a:rPr lang="en-US" b="1" dirty="0">
                <a:solidFill>
                  <a:schemeClr val="bg1"/>
                </a:solidFill>
                <a:latin typeface="Times New Roman" panose="02020603050405020304" pitchFamily="18" charset="0"/>
                <a:cs typeface="Times New Roman" panose="02020603050405020304" pitchFamily="18" charset="0"/>
              </a:rPr>
            </a:br>
            <a:r>
              <a:rPr lang="en-US" b="1" dirty="0">
                <a:solidFill>
                  <a:schemeClr val="bg1"/>
                </a:solidFill>
                <a:latin typeface="Times New Roman" panose="02020603050405020304" pitchFamily="18" charset="0"/>
                <a:cs typeface="Times New Roman" panose="02020603050405020304" pitchFamily="18" charset="0"/>
              </a:rPr>
              <a:t>Cancer Risks</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14FCD05-CB95-4FFE-8218-ABA136C8724F}"/>
              </a:ext>
            </a:extLst>
          </p:cNvPr>
          <p:cNvSpPr>
            <a:spLocks noGrp="1"/>
          </p:cNvSpPr>
          <p:nvPr>
            <p:ph type="subTitle" idx="1"/>
          </p:nvPr>
        </p:nvSpPr>
        <p:spPr>
          <a:xfrm>
            <a:off x="6655777" y="3569678"/>
            <a:ext cx="5275385" cy="2470640"/>
          </a:xfrm>
        </p:spPr>
        <p:txBody>
          <a:bodyPr>
            <a:normAutofit/>
          </a:bodyPr>
          <a:lstStyle/>
          <a:p>
            <a:r>
              <a:rPr lang="en-GB" b="1" dirty="0">
                <a:latin typeface="Times New Roman" panose="02020603050405020304" pitchFamily="18" charset="0"/>
                <a:cs typeface="Times New Roman" panose="02020603050405020304" pitchFamily="18" charset="0"/>
              </a:rPr>
              <a:t>Student Name: </a:t>
            </a:r>
            <a:r>
              <a:rPr lang="en-US" b="1" dirty="0">
                <a:latin typeface="Times New Roman" panose="02020603050405020304" pitchFamily="18" charset="0"/>
                <a:cs typeface="Times New Roman" panose="02020603050405020304" pitchFamily="18" charset="0"/>
              </a:rPr>
              <a:t>Ramya Thulluri </a:t>
            </a:r>
            <a:endParaRPr lang="en-IN"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Student ID: </a:t>
            </a:r>
            <a:r>
              <a:rPr lang="en-US" b="1" dirty="0">
                <a:latin typeface="Times New Roman" panose="02020603050405020304" pitchFamily="18" charset="0"/>
                <a:cs typeface="Times New Roman" panose="02020603050405020304" pitchFamily="18" charset="0"/>
              </a:rPr>
              <a:t>23097466</a:t>
            </a:r>
          </a:p>
          <a:p>
            <a:r>
              <a:rPr lang="en-GB" b="1" dirty="0">
                <a:latin typeface="Times New Roman" panose="02020603050405020304" pitchFamily="18" charset="0"/>
                <a:cs typeface="Times New Roman" panose="02020603050405020304" pitchFamily="18" charset="0"/>
              </a:rPr>
              <a:t>Course: MSc Data Science with research year</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5FFC06C-4C18-2971-3E1A-FCB4BB8D2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0744" y="2556730"/>
            <a:ext cx="2894500" cy="2894500"/>
          </a:xfrm>
          <a:prstGeom prst="ellipse">
            <a:avLst/>
          </a:prstGeom>
          <a:ln w="63500" cap="rnd">
            <a:solidFill>
              <a:schemeClr val="accent5">
                <a:lumMod val="20000"/>
                <a:lumOff val="8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 name="TextBox 6">
            <a:extLst>
              <a:ext uri="{FF2B5EF4-FFF2-40B4-BE49-F238E27FC236}">
                <a16:creationId xmlns:a16="http://schemas.microsoft.com/office/drawing/2014/main" id="{1C12A58E-9BD7-3F9A-B511-5A47EFA347BA}"/>
              </a:ext>
            </a:extLst>
          </p:cNvPr>
          <p:cNvSpPr txBox="1"/>
          <p:nvPr/>
        </p:nvSpPr>
        <p:spPr>
          <a:xfrm>
            <a:off x="69424" y="5934781"/>
            <a:ext cx="6097464"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908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4E5B-7368-BB88-DF44-3C308DCA686E}"/>
              </a:ext>
            </a:extLst>
          </p:cNvPr>
          <p:cNvSpPr>
            <a:spLocks noGrp="1"/>
          </p:cNvSpPr>
          <p:nvPr>
            <p:ph type="title"/>
          </p:nvPr>
        </p:nvSpPr>
        <p:spPr>
          <a:xfrm>
            <a:off x="1204547" y="615462"/>
            <a:ext cx="10115426" cy="808892"/>
          </a:xfrm>
        </p:spPr>
        <p:txBody>
          <a:bodyPr>
            <a:normAutofit/>
          </a:bodyPr>
          <a:lstStyle/>
          <a:p>
            <a:r>
              <a:rPr lang="en-IN" sz="4400" dirty="0">
                <a:solidFill>
                  <a:schemeClr val="bg1"/>
                </a:solidFill>
                <a:latin typeface="Times New Roman" panose="02020603050405020304" pitchFamily="18" charset="0"/>
                <a:cs typeface="Times New Roman" panose="02020603050405020304" pitchFamily="18" charset="0"/>
              </a:rPr>
              <a:t>Introduction &amp; motivation</a:t>
            </a:r>
          </a:p>
        </p:txBody>
      </p:sp>
      <p:sp>
        <p:nvSpPr>
          <p:cNvPr id="3" name="Content Placeholder 2">
            <a:extLst>
              <a:ext uri="{FF2B5EF4-FFF2-40B4-BE49-F238E27FC236}">
                <a16:creationId xmlns:a16="http://schemas.microsoft.com/office/drawing/2014/main" id="{145DA1FA-B0D6-DB73-5CCD-D5CE44412765}"/>
              </a:ext>
            </a:extLst>
          </p:cNvPr>
          <p:cNvSpPr>
            <a:spLocks noGrp="1"/>
          </p:cNvSpPr>
          <p:nvPr>
            <p:ph idx="1"/>
          </p:nvPr>
        </p:nvSpPr>
        <p:spPr>
          <a:xfrm>
            <a:off x="1204547" y="1661746"/>
            <a:ext cx="6172199" cy="4791808"/>
          </a:xfrm>
        </p:spPr>
        <p:txBody>
          <a:bodyPr>
            <a:normAutofit/>
          </a:bodyPr>
          <a:lstStyle/>
          <a:p>
            <a:pPr marL="0" indent="0">
              <a:buNone/>
            </a:pPr>
            <a:r>
              <a:rPr lang="en-US" sz="2200">
                <a:latin typeface="Times New Roman" panose="02020603050405020304" pitchFamily="18" charset="0"/>
                <a:cs typeface="Times New Roman" panose="02020603050405020304" pitchFamily="18" charset="0"/>
              </a:rPr>
              <a:t>Cervical cancer is one of the most preventable cancers, yet many women still struggle to access early screening. Using machine learning, this project aims to predict cervical cancer risk based on behavioural, demographic, and medical factors. Using the Cervical Cancer Behaviour Risk Dataset from Hospital Universitario de Caracas, the study explores which factors contribute most to risk and how predictive models can support early detection and better clinical decision-making.</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C9B3825-4158-F737-BE65-7192A88B01DA}"/>
              </a:ext>
            </a:extLst>
          </p:cNvPr>
          <p:cNvPicPr>
            <a:picLocks noChangeAspect="1"/>
          </p:cNvPicPr>
          <p:nvPr/>
        </p:nvPicPr>
        <p:blipFill>
          <a:blip r:embed="rId2"/>
          <a:stretch>
            <a:fillRect/>
          </a:stretch>
        </p:blipFill>
        <p:spPr>
          <a:xfrm>
            <a:off x="7962955" y="1981899"/>
            <a:ext cx="2894202" cy="2894202"/>
          </a:xfrm>
          <a:prstGeom prst="ellipse">
            <a:avLst/>
          </a:prstGeom>
          <a:ln w="63500" cap="rnd">
            <a:solidFill>
              <a:schemeClr val="bg2">
                <a:lumMod val="40000"/>
                <a:lumOff val="6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TextBox 11">
            <a:extLst>
              <a:ext uri="{FF2B5EF4-FFF2-40B4-BE49-F238E27FC236}">
                <a16:creationId xmlns:a16="http://schemas.microsoft.com/office/drawing/2014/main" id="{2F070093-87AA-28B9-6F3D-39E071846D9C}"/>
              </a:ext>
            </a:extLst>
          </p:cNvPr>
          <p:cNvSpPr txBox="1"/>
          <p:nvPr/>
        </p:nvSpPr>
        <p:spPr>
          <a:xfrm>
            <a:off x="0" y="5873206"/>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063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E09E-F17B-4534-70AD-3E5164F35940}"/>
              </a:ext>
            </a:extLst>
          </p:cNvPr>
          <p:cNvSpPr>
            <a:spLocks noGrp="1"/>
          </p:cNvSpPr>
          <p:nvPr>
            <p:ph type="title"/>
          </p:nvPr>
        </p:nvSpPr>
        <p:spPr>
          <a:xfrm>
            <a:off x="1415562" y="738554"/>
            <a:ext cx="7253653" cy="694592"/>
          </a:xfrm>
        </p:spPr>
        <p:txBody>
          <a:bodyPr>
            <a:noAutofit/>
          </a:bodyPr>
          <a:lstStyle/>
          <a:p>
            <a:r>
              <a:rPr lang="en-IN" sz="4400" dirty="0">
                <a:solidFill>
                  <a:schemeClr val="bg1"/>
                </a:solidFill>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6B3D5652-4650-7019-FC59-4B20C26C5E6B}"/>
              </a:ext>
            </a:extLst>
          </p:cNvPr>
          <p:cNvSpPr>
            <a:spLocks noGrp="1"/>
          </p:cNvSpPr>
          <p:nvPr>
            <p:ph idx="1"/>
          </p:nvPr>
        </p:nvSpPr>
        <p:spPr>
          <a:xfrm>
            <a:off x="1248507" y="1688123"/>
            <a:ext cx="10207869" cy="3496620"/>
          </a:xfrm>
        </p:spPr>
        <p:txBody>
          <a:bodyPr>
            <a:normAutofit/>
          </a:bodyPr>
          <a:lstStyle/>
          <a:p>
            <a:r>
              <a:rPr lang="en-US" b="1" dirty="0">
                <a:solidFill>
                  <a:schemeClr val="bg1"/>
                </a:solidFill>
                <a:latin typeface="Times New Roman" panose="02020603050405020304" pitchFamily="18" charset="0"/>
                <a:cs typeface="Times New Roman" panose="02020603050405020304" pitchFamily="18" charset="0"/>
              </a:rPr>
              <a:t>Fernandes et al. (2017): </a:t>
            </a:r>
            <a:r>
              <a:rPr lang="en-US" sz="2000" dirty="0">
                <a:latin typeface="Times New Roman" panose="02020603050405020304" pitchFamily="18" charset="0"/>
                <a:cs typeface="Times New Roman" panose="02020603050405020304" pitchFamily="18" charset="0"/>
              </a:rPr>
              <a:t>Introduced a transfer-learning approach for cervical cancer screening using shared model knowledge across tests and experts.</a:t>
            </a:r>
          </a:p>
          <a:p>
            <a:r>
              <a:rPr lang="en-US" b="1" dirty="0">
                <a:solidFill>
                  <a:schemeClr val="bg1"/>
                </a:solidFill>
                <a:latin typeface="Times New Roman" panose="02020603050405020304" pitchFamily="18" charset="0"/>
                <a:cs typeface="Times New Roman" panose="02020603050405020304" pitchFamily="18" charset="0"/>
              </a:rPr>
              <a:t>Kessler (2017): </a:t>
            </a:r>
            <a:r>
              <a:rPr lang="en-US" sz="2000" dirty="0">
                <a:latin typeface="Times New Roman" panose="02020603050405020304" pitchFamily="18" charset="0"/>
                <a:cs typeface="Times New Roman" panose="02020603050405020304" pitchFamily="18" charset="0"/>
              </a:rPr>
              <a:t>Provided medical and public-health insights on HPV, vaccination, and screening, motivating early detection but without ML methods.</a:t>
            </a:r>
          </a:p>
          <a:p>
            <a:r>
              <a:rPr lang="en-US" b="1" dirty="0">
                <a:solidFill>
                  <a:schemeClr val="bg1"/>
                </a:solidFill>
                <a:latin typeface="Times New Roman" panose="02020603050405020304" pitchFamily="18" charset="0"/>
                <a:cs typeface="Times New Roman" panose="02020603050405020304" pitchFamily="18" charset="0"/>
              </a:rPr>
              <a:t>My Project: </a:t>
            </a:r>
            <a:r>
              <a:rPr lang="en-US" sz="2000" dirty="0">
                <a:latin typeface="Times New Roman" panose="02020603050405020304" pitchFamily="18" charset="0"/>
                <a:cs typeface="Times New Roman" panose="02020603050405020304" pitchFamily="18" charset="0"/>
              </a:rPr>
              <a:t>Uses the original UCI Caracas dataset (858 patients) and applies classical ML models (LR, RF, SVM,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Decision Tree) with a strong focus on preprocessing, baseline comparison, and interpretability rather than advanced transfer learning or large ensembles.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4AE50B2-02EE-58C8-43E3-B24A31734A49}"/>
              </a:ext>
            </a:extLst>
          </p:cNvPr>
          <p:cNvSpPr txBox="1"/>
          <p:nvPr/>
        </p:nvSpPr>
        <p:spPr>
          <a:xfrm>
            <a:off x="169683" y="5934780"/>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7830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89B8A-A135-44B1-A646-CED926293EF5}"/>
              </a:ext>
            </a:extLst>
          </p:cNvPr>
          <p:cNvSpPr>
            <a:spLocks noGrp="1"/>
          </p:cNvSpPr>
          <p:nvPr>
            <p:ph type="title"/>
          </p:nvPr>
        </p:nvSpPr>
        <p:spPr>
          <a:xfrm>
            <a:off x="1387842" y="685800"/>
            <a:ext cx="9702188" cy="1002323"/>
          </a:xfrm>
        </p:spPr>
        <p:txBody>
          <a:bodyPr/>
          <a:lstStyle/>
          <a:p>
            <a:r>
              <a:rPr lang="en-IN" sz="4400" dirty="0">
                <a:solidFill>
                  <a:schemeClr val="bg1"/>
                </a:solidFill>
                <a:latin typeface="Times New Roman" panose="02020603050405020304" pitchFamily="18" charset="0"/>
                <a:cs typeface="Times New Roman" panose="02020603050405020304" pitchFamily="18" charset="0"/>
              </a:rPr>
              <a:t>research questions</a:t>
            </a:r>
          </a:p>
        </p:txBody>
      </p:sp>
      <p:sp>
        <p:nvSpPr>
          <p:cNvPr id="3" name="Content Placeholder 2">
            <a:extLst>
              <a:ext uri="{FF2B5EF4-FFF2-40B4-BE49-F238E27FC236}">
                <a16:creationId xmlns:a16="http://schemas.microsoft.com/office/drawing/2014/main" id="{F92F597C-B4E7-EEBE-9550-F49162672B02}"/>
              </a:ext>
            </a:extLst>
          </p:cNvPr>
          <p:cNvSpPr>
            <a:spLocks noGrp="1"/>
          </p:cNvSpPr>
          <p:nvPr>
            <p:ph idx="1"/>
          </p:nvPr>
        </p:nvSpPr>
        <p:spPr>
          <a:xfrm>
            <a:off x="1387842" y="1846386"/>
            <a:ext cx="9702188" cy="4475284"/>
          </a:xfrm>
        </p:spPr>
        <p:txBody>
          <a:bodyPr/>
          <a:lstStyle/>
          <a:p>
            <a:r>
              <a:rPr lang="en-US" dirty="0">
                <a:latin typeface="Times New Roman" panose="02020603050405020304" pitchFamily="18" charset="0"/>
                <a:cs typeface="Times New Roman" panose="02020603050405020304" pitchFamily="18" charset="0"/>
              </a:rPr>
              <a:t>Which behavioural &amp; medical factors contribute most to cervical cancer?</a:t>
            </a:r>
          </a:p>
          <a:p>
            <a:r>
              <a:rPr lang="en-US" dirty="0">
                <a:latin typeface="Times New Roman" panose="02020603050405020304" pitchFamily="18" charset="0"/>
                <a:cs typeface="Times New Roman" panose="02020603050405020304" pitchFamily="18" charset="0"/>
              </a:rPr>
              <a:t>Can ML accurately predict high‑risk individuals?</a:t>
            </a:r>
          </a:p>
          <a:p>
            <a:r>
              <a:rPr lang="en-US" dirty="0">
                <a:latin typeface="Times New Roman" panose="02020603050405020304" pitchFamily="18" charset="0"/>
                <a:cs typeface="Times New Roman" panose="02020603050405020304" pitchFamily="18" charset="0"/>
              </a:rPr>
              <a:t>How does this compare to existing literature?</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EFD63B-C4F1-03B0-E732-C3D29650E887}"/>
              </a:ext>
            </a:extLst>
          </p:cNvPr>
          <p:cNvSpPr txBox="1"/>
          <p:nvPr/>
        </p:nvSpPr>
        <p:spPr>
          <a:xfrm>
            <a:off x="0" y="5802868"/>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728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96DD-00F7-828B-2C24-060C87180E04}"/>
              </a:ext>
            </a:extLst>
          </p:cNvPr>
          <p:cNvSpPr>
            <a:spLocks noGrp="1"/>
          </p:cNvSpPr>
          <p:nvPr>
            <p:ph type="title"/>
          </p:nvPr>
        </p:nvSpPr>
        <p:spPr>
          <a:xfrm>
            <a:off x="1063869" y="577362"/>
            <a:ext cx="11128131" cy="539260"/>
          </a:xfrm>
        </p:spPr>
        <p:txBody>
          <a:bodyPr>
            <a:noAutofit/>
          </a:bodyPr>
          <a:lstStyle/>
          <a:p>
            <a:r>
              <a:rPr lang="en-IN" sz="4000" dirty="0">
                <a:solidFill>
                  <a:schemeClr val="bg1"/>
                </a:solidFill>
                <a:latin typeface="Times New Roman" panose="02020603050405020304" pitchFamily="18" charset="0"/>
                <a:cs typeface="Times New Roman" panose="02020603050405020304" pitchFamily="18" charset="0"/>
              </a:rPr>
              <a:t>data set overview &amp; data processing</a:t>
            </a:r>
            <a:br>
              <a:rPr lang="en-IN" sz="4000" dirty="0"/>
            </a:br>
            <a:endParaRPr lang="en-IN" sz="4000" dirty="0"/>
          </a:p>
        </p:txBody>
      </p:sp>
      <p:sp>
        <p:nvSpPr>
          <p:cNvPr id="3" name="Content Placeholder 2">
            <a:extLst>
              <a:ext uri="{FF2B5EF4-FFF2-40B4-BE49-F238E27FC236}">
                <a16:creationId xmlns:a16="http://schemas.microsoft.com/office/drawing/2014/main" id="{5A8544F5-45E3-5464-941A-1582D4A4CFE7}"/>
              </a:ext>
            </a:extLst>
          </p:cNvPr>
          <p:cNvSpPr>
            <a:spLocks noGrp="1"/>
          </p:cNvSpPr>
          <p:nvPr>
            <p:ph idx="1"/>
          </p:nvPr>
        </p:nvSpPr>
        <p:spPr>
          <a:xfrm>
            <a:off x="1151792" y="1116623"/>
            <a:ext cx="7596553" cy="3172574"/>
          </a:xfrm>
        </p:spPr>
        <p:txBody>
          <a:bodyPr>
            <a:normAutofit/>
          </a:bodyPr>
          <a:lstStyle/>
          <a:p>
            <a:r>
              <a:rPr lang="en-IN" sz="2200" b="1" dirty="0">
                <a:solidFill>
                  <a:schemeClr val="bg1"/>
                </a:solidFill>
                <a:latin typeface="Times New Roman" panose="02020603050405020304" pitchFamily="18" charset="0"/>
                <a:cs typeface="Times New Roman" panose="02020603050405020304" pitchFamily="18" charset="0"/>
              </a:rPr>
              <a:t>Source: </a:t>
            </a:r>
            <a:r>
              <a:rPr lang="en-IN" sz="2200" dirty="0">
                <a:latin typeface="Times New Roman" panose="02020603050405020304" pitchFamily="18" charset="0"/>
                <a:cs typeface="Times New Roman" panose="02020603050405020304" pitchFamily="18" charset="0"/>
              </a:rPr>
              <a:t>UCI Machine Learning Repository</a:t>
            </a:r>
          </a:p>
          <a:p>
            <a:r>
              <a:rPr lang="en-IN" sz="2200" dirty="0">
                <a:latin typeface="Times New Roman" panose="02020603050405020304" pitchFamily="18" charset="0"/>
                <a:cs typeface="Times New Roman" panose="02020603050405020304" pitchFamily="18" charset="0"/>
              </a:rPr>
              <a:t>Hospital Universitario de Caracas, Venezuela</a:t>
            </a:r>
          </a:p>
          <a:p>
            <a:r>
              <a:rPr lang="en-IN" sz="2200" dirty="0">
                <a:latin typeface="Times New Roman" panose="02020603050405020304" pitchFamily="18" charset="0"/>
                <a:cs typeface="Times New Roman" panose="02020603050405020304" pitchFamily="18" charset="0"/>
              </a:rPr>
              <a:t>858 patients, 36 features</a:t>
            </a:r>
          </a:p>
          <a:p>
            <a:r>
              <a:rPr lang="en-IN" sz="2200" dirty="0">
                <a:latin typeface="Times New Roman" panose="02020603050405020304" pitchFamily="18" charset="0"/>
                <a:cs typeface="Times New Roman" panose="02020603050405020304" pitchFamily="18" charset="0"/>
              </a:rPr>
              <a:t>Handled missing values (median/mode/mean).</a:t>
            </a:r>
          </a:p>
          <a:p>
            <a:r>
              <a:rPr lang="en-IN" sz="2200" dirty="0">
                <a:latin typeface="Times New Roman" panose="02020603050405020304" pitchFamily="18" charset="0"/>
                <a:cs typeface="Times New Roman" panose="02020603050405020304" pitchFamily="18" charset="0"/>
              </a:rPr>
              <a:t>Normalized numerical values.</a:t>
            </a:r>
          </a:p>
          <a:p>
            <a:r>
              <a:rPr lang="en-IN" dirty="0">
                <a:hlinkClick r:id="rId3"/>
              </a:rPr>
              <a:t>Dataset Link</a:t>
            </a:r>
            <a:endParaRPr lang="en-IN" dirty="0"/>
          </a:p>
        </p:txBody>
      </p:sp>
      <p:pic>
        <p:nvPicPr>
          <p:cNvPr id="5" name="Picture 4">
            <a:extLst>
              <a:ext uri="{FF2B5EF4-FFF2-40B4-BE49-F238E27FC236}">
                <a16:creationId xmlns:a16="http://schemas.microsoft.com/office/drawing/2014/main" id="{C103CDCC-F67D-44FA-3BBA-0BDCBD6F3C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920" y="1604263"/>
            <a:ext cx="4091233" cy="1207477"/>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EFFABA18-76A3-88E0-DEDF-D85E895D98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7035" y="3157980"/>
            <a:ext cx="6106258" cy="3477008"/>
          </a:xfrm>
          <a:prstGeom prst="roundRect">
            <a:avLst>
              <a:gd name="adj" fmla="val 8594"/>
            </a:avLst>
          </a:prstGeom>
          <a:solidFill>
            <a:srgbClr val="FFFFFF">
              <a:shade val="85000"/>
            </a:srgbClr>
          </a:solidFill>
          <a:ln>
            <a:solidFill>
              <a:schemeClr val="tx2">
                <a:lumMod val="10000"/>
              </a:schemeClr>
            </a:solidFill>
          </a:ln>
          <a:effectLst/>
        </p:spPr>
      </p:pic>
      <p:sp>
        <p:nvSpPr>
          <p:cNvPr id="9" name="TextBox 8">
            <a:extLst>
              <a:ext uri="{FF2B5EF4-FFF2-40B4-BE49-F238E27FC236}">
                <a16:creationId xmlns:a16="http://schemas.microsoft.com/office/drawing/2014/main" id="{BBA31DD6-01D5-85BE-AB2B-FC63AA194BCD}"/>
              </a:ext>
            </a:extLst>
          </p:cNvPr>
          <p:cNvSpPr txBox="1"/>
          <p:nvPr/>
        </p:nvSpPr>
        <p:spPr>
          <a:xfrm>
            <a:off x="96285" y="5911306"/>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96085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2EF60-391C-5EEA-ACC1-F232760DA358}"/>
              </a:ext>
            </a:extLst>
          </p:cNvPr>
          <p:cNvSpPr>
            <a:spLocks noGrp="1"/>
          </p:cNvSpPr>
          <p:nvPr>
            <p:ph type="title"/>
          </p:nvPr>
        </p:nvSpPr>
        <p:spPr>
          <a:xfrm>
            <a:off x="1248508" y="199293"/>
            <a:ext cx="9905999" cy="958362"/>
          </a:xfrm>
        </p:spPr>
        <p:txBody>
          <a:bodyPr>
            <a:normAutofit fontScale="90000"/>
          </a:bodyPr>
          <a:lstStyle/>
          <a:p>
            <a:r>
              <a:rPr lang="en-IN" sz="4400" dirty="0">
                <a:solidFill>
                  <a:schemeClr val="bg1"/>
                </a:solidFill>
                <a:latin typeface="Times New Roman" panose="02020603050405020304" pitchFamily="18" charset="0"/>
                <a:cs typeface="Times New Roman" panose="02020603050405020304" pitchFamily="18" charset="0"/>
              </a:rPr>
              <a:t>Implementation &amp; methodology</a:t>
            </a:r>
          </a:p>
        </p:txBody>
      </p:sp>
      <p:sp>
        <p:nvSpPr>
          <p:cNvPr id="3" name="Content Placeholder 2">
            <a:extLst>
              <a:ext uri="{FF2B5EF4-FFF2-40B4-BE49-F238E27FC236}">
                <a16:creationId xmlns:a16="http://schemas.microsoft.com/office/drawing/2014/main" id="{01188779-D4F9-5E15-DF34-1BD8F11792F8}"/>
              </a:ext>
            </a:extLst>
          </p:cNvPr>
          <p:cNvSpPr>
            <a:spLocks noGrp="1"/>
          </p:cNvSpPr>
          <p:nvPr>
            <p:ph idx="1"/>
          </p:nvPr>
        </p:nvSpPr>
        <p:spPr>
          <a:xfrm>
            <a:off x="1055078" y="1164981"/>
            <a:ext cx="6462346" cy="4528038"/>
          </a:xfrm>
        </p:spPr>
        <p:txBody>
          <a:bodyPr>
            <a:noAutofit/>
          </a:bodyPr>
          <a:lstStyle/>
          <a:p>
            <a:r>
              <a:rPr lang="en-IN" sz="1600" b="1" dirty="0">
                <a:solidFill>
                  <a:schemeClr val="bg1"/>
                </a:solidFill>
                <a:latin typeface="Times New Roman" panose="02020603050405020304" pitchFamily="18" charset="0"/>
                <a:cs typeface="Times New Roman" panose="02020603050405020304" pitchFamily="18" charset="0"/>
              </a:rPr>
              <a:t>Implementation</a:t>
            </a:r>
            <a:r>
              <a:rPr lang="en-IN" sz="1600" b="1" dirty="0">
                <a:latin typeface="Times New Roman" panose="02020603050405020304" pitchFamily="18" charset="0"/>
                <a:cs typeface="Times New Roman" panose="02020603050405020304" pitchFamily="18" charset="0"/>
              </a:rPr>
              <a:t>:-</a:t>
            </a:r>
          </a:p>
          <a:p>
            <a:pPr>
              <a:spcBef>
                <a:spcPts val="500"/>
              </a:spcBef>
            </a:pPr>
            <a:r>
              <a:rPr lang="en-IN" sz="1800" dirty="0">
                <a:latin typeface="Times New Roman" panose="02020603050405020304" pitchFamily="18" charset="0"/>
                <a:cs typeface="Times New Roman" panose="02020603050405020304" pitchFamily="18" charset="0"/>
              </a:rPr>
              <a:t>Used Google Colab for preprocessing and model training</a:t>
            </a:r>
          </a:p>
          <a:p>
            <a:pPr>
              <a:spcBef>
                <a:spcPts val="500"/>
              </a:spcBef>
            </a:pPr>
            <a:r>
              <a:rPr lang="en-IN" sz="1800" dirty="0">
                <a:latin typeface="Times New Roman" panose="02020603050405020304" pitchFamily="18" charset="0"/>
                <a:cs typeface="Times New Roman" panose="02020603050405020304" pitchFamily="18" charset="0"/>
              </a:rPr>
              <a:t>Generated confusion matrices and feature-importance plots</a:t>
            </a:r>
          </a:p>
          <a:p>
            <a:pPr>
              <a:spcBef>
                <a:spcPts val="500"/>
              </a:spcBef>
            </a:pPr>
            <a:r>
              <a:rPr lang="en-IN" sz="1800" dirty="0">
                <a:latin typeface="Times New Roman" panose="02020603050405020304" pitchFamily="18" charset="0"/>
                <a:cs typeface="Times New Roman" panose="02020603050405020304" pitchFamily="18" charset="0"/>
              </a:rPr>
              <a:t>Complete workflow available on GitHub</a:t>
            </a:r>
          </a:p>
          <a:p>
            <a:r>
              <a:rPr lang="en-IN" sz="1600" b="1" dirty="0">
                <a:solidFill>
                  <a:schemeClr val="bg1"/>
                </a:solidFill>
                <a:latin typeface="Times New Roman" panose="02020603050405020304" pitchFamily="18" charset="0"/>
                <a:cs typeface="Times New Roman" panose="02020603050405020304" pitchFamily="18" charset="0"/>
              </a:rPr>
              <a:t>Models Used</a:t>
            </a:r>
            <a:r>
              <a:rPr lang="en-IN" sz="1600" b="1" dirty="0">
                <a:latin typeface="Times New Roman" panose="02020603050405020304" pitchFamily="18" charset="0"/>
                <a:cs typeface="Times New Roman" panose="02020603050405020304" pitchFamily="18" charset="0"/>
              </a:rPr>
              <a:t>:-</a:t>
            </a:r>
          </a:p>
          <a:p>
            <a:pPr>
              <a:spcBef>
                <a:spcPts val="500"/>
              </a:spcBef>
            </a:pPr>
            <a:r>
              <a:rPr lang="en-IN" sz="1800" dirty="0">
                <a:latin typeface="Times New Roman" panose="02020603050405020304" pitchFamily="18" charset="0"/>
                <a:cs typeface="Times New Roman" panose="02020603050405020304" pitchFamily="18" charset="0"/>
              </a:rPr>
              <a:t>LR, Decision Tree, Random Forest, SVM, </a:t>
            </a:r>
            <a:r>
              <a:rPr lang="en-IN" sz="1800" dirty="0" err="1">
                <a:latin typeface="Times New Roman" panose="02020603050405020304" pitchFamily="18" charset="0"/>
                <a:cs typeface="Times New Roman" panose="02020603050405020304" pitchFamily="18" charset="0"/>
              </a:rPr>
              <a:t>XGBoost</a:t>
            </a:r>
            <a:r>
              <a:rPr lang="en-IN" sz="1800" dirty="0">
                <a:latin typeface="Times New Roman" panose="02020603050405020304" pitchFamily="18" charset="0"/>
                <a:cs typeface="Times New Roman" panose="02020603050405020304" pitchFamily="18" charset="0"/>
              </a:rPr>
              <a:t>, ANN.</a:t>
            </a:r>
          </a:p>
          <a:p>
            <a:pPr>
              <a:spcBef>
                <a:spcPts val="500"/>
              </a:spcBef>
            </a:pPr>
            <a:r>
              <a:rPr lang="en-IN" sz="1800" dirty="0">
                <a:latin typeface="Times New Roman" panose="02020603050405020304" pitchFamily="18" charset="0"/>
                <a:cs typeface="Times New Roman" panose="02020603050405020304" pitchFamily="18" charset="0"/>
              </a:rPr>
              <a:t>Training Setup:- 70/30 train–test split</a:t>
            </a:r>
          </a:p>
          <a:p>
            <a:pPr>
              <a:spcBef>
                <a:spcPts val="500"/>
              </a:spcBef>
            </a:pPr>
            <a:r>
              <a:rPr lang="en-IN" sz="1800" dirty="0">
                <a:latin typeface="Times New Roman" panose="02020603050405020304" pitchFamily="18" charset="0"/>
                <a:cs typeface="Times New Roman" panose="02020603050405020304" pitchFamily="18" charset="0"/>
              </a:rPr>
              <a:t>Standard preprocessing applied (cleaning, encoding, scaling)</a:t>
            </a:r>
          </a:p>
          <a:p>
            <a:pPr>
              <a:spcBef>
                <a:spcPts val="500"/>
              </a:spcBef>
            </a:pPr>
            <a:r>
              <a:rPr lang="en-IN" sz="1600" b="1" dirty="0">
                <a:solidFill>
                  <a:schemeClr val="bg1"/>
                </a:solidFill>
                <a:latin typeface="Times New Roman" panose="02020603050405020304" pitchFamily="18" charset="0"/>
                <a:cs typeface="Times New Roman" panose="02020603050405020304" pitchFamily="18" charset="0"/>
              </a:rPr>
              <a:t>Evaluation Metrics</a:t>
            </a:r>
            <a:r>
              <a:rPr lang="en-IN" sz="1600" b="1" dirty="0">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a:p>
            <a:pPr>
              <a:spcBef>
                <a:spcPts val="500"/>
              </a:spcBef>
            </a:pPr>
            <a:r>
              <a:rPr lang="en-IN" sz="1800" dirty="0">
                <a:latin typeface="Times New Roman" panose="02020603050405020304" pitchFamily="18" charset="0"/>
                <a:cs typeface="Times New Roman" panose="02020603050405020304" pitchFamily="18" charset="0"/>
              </a:rPr>
              <a:t>Accuracy, Precision, Recall, F1-score</a:t>
            </a:r>
          </a:p>
          <a:p>
            <a:r>
              <a:rPr lang="en-IN" sz="1600" b="1" dirty="0">
                <a:solidFill>
                  <a:schemeClr val="bg1"/>
                </a:solidFill>
                <a:latin typeface="Times New Roman" panose="02020603050405020304" pitchFamily="18" charset="0"/>
                <a:cs typeface="Times New Roman" panose="02020603050405020304" pitchFamily="18" charset="0"/>
              </a:rPr>
              <a:t>Main Goal:-</a:t>
            </a:r>
          </a:p>
          <a:p>
            <a:pPr marL="0" indent="0">
              <a:spcBef>
                <a:spcPts val="500"/>
              </a:spcBef>
              <a:buNone/>
            </a:pPr>
            <a:r>
              <a:rPr lang="en-IN" sz="1800" dirty="0">
                <a:latin typeface="Times New Roman" panose="02020603050405020304" pitchFamily="18" charset="0"/>
                <a:cs typeface="Times New Roman" panose="02020603050405020304" pitchFamily="18" charset="0"/>
              </a:rPr>
              <a:t>Maximize recall to reduce false negatives in medical diagnosis</a:t>
            </a:r>
          </a:p>
          <a:p>
            <a:endParaRPr lang="en-IN" sz="1600" dirty="0"/>
          </a:p>
        </p:txBody>
      </p:sp>
      <p:pic>
        <p:nvPicPr>
          <p:cNvPr id="7" name="Picture 6">
            <a:extLst>
              <a:ext uri="{FF2B5EF4-FFF2-40B4-BE49-F238E27FC236}">
                <a16:creationId xmlns:a16="http://schemas.microsoft.com/office/drawing/2014/main" id="{FF0F09EC-3017-B38C-E2C3-219A0F7AF0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6408" y="3044952"/>
            <a:ext cx="4892185" cy="3165699"/>
          </a:xfrm>
          <a:prstGeom prst="rect">
            <a:avLst/>
          </a:prstGeom>
          <a:ln>
            <a:solidFill>
              <a:schemeClr val="bg1">
                <a:lumMod val="95000"/>
                <a:lumOff val="5000"/>
              </a:schemeClr>
            </a:solidFill>
          </a:ln>
        </p:spPr>
      </p:pic>
      <p:pic>
        <p:nvPicPr>
          <p:cNvPr id="9" name="Picture 8">
            <a:extLst>
              <a:ext uri="{FF2B5EF4-FFF2-40B4-BE49-F238E27FC236}">
                <a16:creationId xmlns:a16="http://schemas.microsoft.com/office/drawing/2014/main" id="{416116B8-730F-578E-DE47-DD320E82C3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2713" y="2017336"/>
            <a:ext cx="4995880" cy="716436"/>
          </a:xfrm>
          <a:prstGeom prst="rect">
            <a:avLst/>
          </a:prstGeom>
          <a:ln>
            <a:solidFill>
              <a:schemeClr val="bg1"/>
            </a:solidFill>
          </a:ln>
        </p:spPr>
      </p:pic>
      <p:sp>
        <p:nvSpPr>
          <p:cNvPr id="11" name="TextBox 10">
            <a:extLst>
              <a:ext uri="{FF2B5EF4-FFF2-40B4-BE49-F238E27FC236}">
                <a16:creationId xmlns:a16="http://schemas.microsoft.com/office/drawing/2014/main" id="{16484F2D-B9CA-0EB9-BE4A-F496C784E41E}"/>
              </a:ext>
            </a:extLst>
          </p:cNvPr>
          <p:cNvSpPr txBox="1"/>
          <p:nvPr/>
        </p:nvSpPr>
        <p:spPr>
          <a:xfrm>
            <a:off x="95249" y="6025985"/>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102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DB02-FFBC-29BA-DFD8-DA3E0690C64E}"/>
              </a:ext>
            </a:extLst>
          </p:cNvPr>
          <p:cNvSpPr>
            <a:spLocks noGrp="1"/>
          </p:cNvSpPr>
          <p:nvPr>
            <p:ph type="title"/>
          </p:nvPr>
        </p:nvSpPr>
        <p:spPr>
          <a:xfrm>
            <a:off x="1351725" y="173736"/>
            <a:ext cx="9831259" cy="1014984"/>
          </a:xfrm>
        </p:spPr>
        <p:txBody>
          <a:bodyPr>
            <a:normAutofit/>
          </a:bodyPr>
          <a:lstStyle/>
          <a:p>
            <a:r>
              <a:rPr lang="en-IN" sz="4400" dirty="0">
                <a:solidFill>
                  <a:schemeClr val="bg1"/>
                </a:solidFill>
                <a:latin typeface="Times New Roman" panose="02020603050405020304" pitchFamily="18" charset="0"/>
                <a:cs typeface="Times New Roman" panose="02020603050405020304" pitchFamily="18" charset="0"/>
              </a:rPr>
              <a:t>Hyperparameter Tuning</a:t>
            </a:r>
          </a:p>
        </p:txBody>
      </p:sp>
      <p:sp>
        <p:nvSpPr>
          <p:cNvPr id="3" name="Content Placeholder 2">
            <a:extLst>
              <a:ext uri="{FF2B5EF4-FFF2-40B4-BE49-F238E27FC236}">
                <a16:creationId xmlns:a16="http://schemas.microsoft.com/office/drawing/2014/main" id="{41216227-9DD4-742A-D985-3A110808FED1}"/>
              </a:ext>
            </a:extLst>
          </p:cNvPr>
          <p:cNvSpPr>
            <a:spLocks noGrp="1"/>
          </p:cNvSpPr>
          <p:nvPr>
            <p:ph idx="1"/>
          </p:nvPr>
        </p:nvSpPr>
        <p:spPr>
          <a:xfrm>
            <a:off x="1351725" y="1188720"/>
            <a:ext cx="6841300" cy="3541714"/>
          </a:xfrm>
        </p:spPr>
        <p:txBody>
          <a:bodyPr>
            <a:normAutofit fontScale="25000" lnSpcReduction="20000"/>
          </a:bodyPr>
          <a:lstStyle/>
          <a:p>
            <a:pPr>
              <a:lnSpc>
                <a:spcPct val="140000"/>
              </a:lnSpc>
              <a:spcBef>
                <a:spcPts val="500"/>
              </a:spcBef>
            </a:pPr>
            <a:r>
              <a:rPr lang="en-IN" sz="7600" b="1" dirty="0">
                <a:solidFill>
                  <a:schemeClr val="bg1"/>
                </a:solidFill>
                <a:latin typeface="Times New Roman" panose="02020603050405020304" pitchFamily="18" charset="0"/>
                <a:cs typeface="Times New Roman" panose="02020603050405020304" pitchFamily="18" charset="0"/>
              </a:rPr>
              <a:t>Why Tuning?</a:t>
            </a:r>
          </a:p>
          <a:p>
            <a:pPr marL="0" indent="0">
              <a:spcBef>
                <a:spcPts val="500"/>
              </a:spcBef>
              <a:buNone/>
            </a:pPr>
            <a:r>
              <a:rPr lang="en-IN" sz="7600" dirty="0">
                <a:latin typeface="Times New Roman" panose="02020603050405020304" pitchFamily="18" charset="0"/>
                <a:cs typeface="Times New Roman" panose="02020603050405020304" pitchFamily="18" charset="0"/>
              </a:rPr>
              <a:t>Improve model performance</a:t>
            </a:r>
          </a:p>
          <a:p>
            <a:pPr marL="0" indent="0">
              <a:spcBef>
                <a:spcPts val="500"/>
              </a:spcBef>
              <a:buNone/>
            </a:pPr>
            <a:r>
              <a:rPr lang="en-IN" sz="7600" dirty="0">
                <a:latin typeface="Times New Roman" panose="02020603050405020304" pitchFamily="18" charset="0"/>
                <a:cs typeface="Times New Roman" panose="02020603050405020304" pitchFamily="18" charset="0"/>
              </a:rPr>
              <a:t>Reduce overfitting</a:t>
            </a:r>
          </a:p>
          <a:p>
            <a:pPr marL="0" indent="0">
              <a:spcBef>
                <a:spcPts val="500"/>
              </a:spcBef>
              <a:buNone/>
            </a:pPr>
            <a:r>
              <a:rPr lang="en-IN" sz="7600" dirty="0">
                <a:latin typeface="Times New Roman" panose="02020603050405020304" pitchFamily="18" charset="0"/>
                <a:cs typeface="Times New Roman" panose="02020603050405020304" pitchFamily="18" charset="0"/>
              </a:rPr>
              <a:t>Optimize recall for medical prediction</a:t>
            </a:r>
          </a:p>
          <a:p>
            <a:pPr>
              <a:lnSpc>
                <a:spcPct val="140000"/>
              </a:lnSpc>
              <a:spcBef>
                <a:spcPts val="500"/>
              </a:spcBef>
            </a:pPr>
            <a:r>
              <a:rPr lang="en-IN" sz="7600" b="1" dirty="0">
                <a:solidFill>
                  <a:schemeClr val="bg1"/>
                </a:solidFill>
                <a:latin typeface="Times New Roman" panose="02020603050405020304" pitchFamily="18" charset="0"/>
                <a:cs typeface="Times New Roman" panose="02020603050405020304" pitchFamily="18" charset="0"/>
              </a:rPr>
              <a:t>Key Parameters Tuned:-</a:t>
            </a:r>
          </a:p>
          <a:p>
            <a:pPr marL="0" indent="0">
              <a:lnSpc>
                <a:spcPct val="140000"/>
              </a:lnSpc>
              <a:spcBef>
                <a:spcPts val="500"/>
              </a:spcBef>
              <a:buNone/>
            </a:pPr>
            <a:r>
              <a:rPr lang="en-IN" sz="7600" dirty="0">
                <a:latin typeface="Times New Roman" panose="02020603050405020304" pitchFamily="18" charset="0"/>
                <a:cs typeface="Times New Roman" panose="02020603050405020304" pitchFamily="18" charset="0"/>
              </a:rPr>
              <a:t>For Logistic Regression Best Parameters </a:t>
            </a:r>
          </a:p>
          <a:p>
            <a:pPr marL="0" indent="0">
              <a:lnSpc>
                <a:spcPct val="140000"/>
              </a:lnSpc>
              <a:spcBef>
                <a:spcPts val="500"/>
              </a:spcBef>
              <a:buNone/>
            </a:pPr>
            <a:r>
              <a:rPr lang="en-IN" sz="7600" dirty="0">
                <a:latin typeface="Times New Roman" panose="02020603050405020304" pitchFamily="18" charset="0"/>
                <a:cs typeface="Times New Roman" panose="02020603050405020304" pitchFamily="18" charset="0"/>
              </a:rPr>
              <a:t>C(0.1), penalty(l1), solver(</a:t>
            </a:r>
            <a:r>
              <a:rPr lang="en-IN" sz="7600" dirty="0" err="1">
                <a:latin typeface="Times New Roman" panose="02020603050405020304" pitchFamily="18" charset="0"/>
                <a:cs typeface="Times New Roman" panose="02020603050405020304" pitchFamily="18" charset="0"/>
              </a:rPr>
              <a:t>liblinear</a:t>
            </a:r>
            <a:r>
              <a:rPr lang="en-IN" sz="7600" dirty="0">
                <a:latin typeface="Times New Roman" panose="02020603050405020304" pitchFamily="18" charset="0"/>
                <a:cs typeface="Times New Roman" panose="02020603050405020304" pitchFamily="18" charset="0"/>
              </a:rPr>
              <a:t>)</a:t>
            </a:r>
          </a:p>
          <a:p>
            <a:pPr>
              <a:lnSpc>
                <a:spcPct val="140000"/>
              </a:lnSpc>
              <a:spcBef>
                <a:spcPts val="500"/>
              </a:spcBef>
            </a:pPr>
            <a:r>
              <a:rPr lang="en-IN" sz="7600" b="1" dirty="0">
                <a:solidFill>
                  <a:schemeClr val="bg1"/>
                </a:solidFill>
                <a:latin typeface="Times New Roman" panose="02020603050405020304" pitchFamily="18" charset="0"/>
                <a:cs typeface="Times New Roman" panose="02020603050405020304" pitchFamily="18" charset="0"/>
              </a:rPr>
              <a:t>Tuning Methods Used:-</a:t>
            </a:r>
          </a:p>
          <a:p>
            <a:pPr marL="0" indent="0">
              <a:lnSpc>
                <a:spcPct val="140000"/>
              </a:lnSpc>
              <a:spcBef>
                <a:spcPts val="500"/>
              </a:spcBef>
              <a:buNone/>
            </a:pPr>
            <a:r>
              <a:rPr lang="en-IN" sz="7600" dirty="0">
                <a:latin typeface="Times New Roman" panose="02020603050405020304" pitchFamily="18" charset="0"/>
                <a:cs typeface="Times New Roman" panose="02020603050405020304" pitchFamily="18" charset="0"/>
              </a:rPr>
              <a:t>Grid Search: tests predefined parameter combinations</a:t>
            </a:r>
          </a:p>
          <a:p>
            <a:pPr>
              <a:lnSpc>
                <a:spcPct val="140000"/>
              </a:lnSpc>
              <a:spcBef>
                <a:spcPts val="500"/>
              </a:spcBef>
            </a:pPr>
            <a:r>
              <a:rPr lang="en-IN" sz="7600" b="1" dirty="0">
                <a:solidFill>
                  <a:schemeClr val="bg1"/>
                </a:solidFill>
                <a:latin typeface="Times New Roman" panose="02020603050405020304" pitchFamily="18" charset="0"/>
                <a:cs typeface="Times New Roman" panose="02020603050405020304" pitchFamily="18" charset="0"/>
              </a:rPr>
              <a:t>Outcome:-</a:t>
            </a:r>
          </a:p>
          <a:p>
            <a:pPr marL="0" indent="0">
              <a:lnSpc>
                <a:spcPct val="140000"/>
              </a:lnSpc>
              <a:spcBef>
                <a:spcPts val="500"/>
              </a:spcBef>
              <a:buNone/>
            </a:pPr>
            <a:r>
              <a:rPr lang="en-IN" sz="7600" dirty="0">
                <a:latin typeface="Times New Roman" panose="02020603050405020304" pitchFamily="18" charset="0"/>
                <a:cs typeface="Times New Roman" panose="02020603050405020304" pitchFamily="18" charset="0"/>
              </a:rPr>
              <a:t>Tuned models achieved better recall, reducing missed positive cases                                                                                                                                         Performance improved compared to baseline models</a:t>
            </a:r>
          </a:p>
          <a:p>
            <a:endParaRPr lang="en-IN" dirty="0"/>
          </a:p>
        </p:txBody>
      </p:sp>
      <p:pic>
        <p:nvPicPr>
          <p:cNvPr id="5" name="Picture 4">
            <a:extLst>
              <a:ext uri="{FF2B5EF4-FFF2-40B4-BE49-F238E27FC236}">
                <a16:creationId xmlns:a16="http://schemas.microsoft.com/office/drawing/2014/main" id="{A59BE5DA-51F0-3989-5C74-73D9F6F43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9858" y="1608684"/>
            <a:ext cx="5761406" cy="2701785"/>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446C5FE9-7F1D-C684-6603-DA7FCFFF198B}"/>
              </a:ext>
            </a:extLst>
          </p:cNvPr>
          <p:cNvSpPr txBox="1"/>
          <p:nvPr/>
        </p:nvSpPr>
        <p:spPr>
          <a:xfrm>
            <a:off x="161096" y="5947286"/>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7508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029C-9A16-9725-7E5C-A45E3A5A8FE7}"/>
              </a:ext>
            </a:extLst>
          </p:cNvPr>
          <p:cNvSpPr>
            <a:spLocks noGrp="1"/>
          </p:cNvSpPr>
          <p:nvPr>
            <p:ph type="title"/>
          </p:nvPr>
        </p:nvSpPr>
        <p:spPr>
          <a:xfrm>
            <a:off x="1389184" y="219808"/>
            <a:ext cx="9532671" cy="1265037"/>
          </a:xfrm>
        </p:spPr>
        <p:txBody>
          <a:bodyPr>
            <a:normAutofit/>
          </a:bodyPr>
          <a:lstStyle/>
          <a:p>
            <a:r>
              <a:rPr lang="en-IN" sz="4400" dirty="0">
                <a:solidFill>
                  <a:schemeClr val="bg1"/>
                </a:solidFill>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810F1956-78FB-38AC-B1B9-D261DE59AD71}"/>
              </a:ext>
            </a:extLst>
          </p:cNvPr>
          <p:cNvSpPr>
            <a:spLocks noGrp="1"/>
          </p:cNvSpPr>
          <p:nvPr>
            <p:ph idx="1"/>
          </p:nvPr>
        </p:nvSpPr>
        <p:spPr>
          <a:xfrm>
            <a:off x="1389185" y="1484845"/>
            <a:ext cx="10087994" cy="4507524"/>
          </a:xfrm>
        </p:spPr>
        <p:txBody>
          <a:bodyPr>
            <a:noAutofit/>
          </a:bodyPr>
          <a:lstStyle/>
          <a:p>
            <a:pPr>
              <a:spcBef>
                <a:spcPts val="500"/>
              </a:spcBef>
            </a:pPr>
            <a:r>
              <a:rPr lang="en-US" sz="1900" b="1" dirty="0">
                <a:solidFill>
                  <a:schemeClr val="bg1"/>
                </a:solidFill>
                <a:latin typeface="Times New Roman" panose="02020603050405020304" pitchFamily="18" charset="0"/>
                <a:cs typeface="Times New Roman" panose="02020603050405020304" pitchFamily="18" charset="0"/>
              </a:rPr>
              <a:t>Recall Performance:-</a:t>
            </a:r>
          </a:p>
          <a:p>
            <a:pPr marL="0" indent="0">
              <a:spcBef>
                <a:spcPts val="500"/>
              </a:spcBef>
              <a:buNone/>
            </a:pPr>
            <a:r>
              <a:rPr lang="en-US" sz="1900" dirty="0">
                <a:latin typeface="Times New Roman" panose="02020603050405020304" pitchFamily="18" charset="0"/>
                <a:cs typeface="Times New Roman" panose="02020603050405020304" pitchFamily="18" charset="0"/>
              </a:rPr>
              <a:t>Logistic Regression (Tuned): 87% — Best-performing model</a:t>
            </a:r>
          </a:p>
          <a:p>
            <a:pPr marL="0" indent="0">
              <a:spcBef>
                <a:spcPts val="500"/>
              </a:spcBef>
              <a:buNone/>
            </a:pPr>
            <a:r>
              <a:rPr lang="en-US" sz="1900" dirty="0">
                <a:latin typeface="Times New Roman" panose="02020603050405020304" pitchFamily="18" charset="0"/>
                <a:cs typeface="Times New Roman" panose="02020603050405020304" pitchFamily="18" charset="0"/>
              </a:rPr>
              <a:t>Random Forest: 53%</a:t>
            </a:r>
          </a:p>
          <a:p>
            <a:pPr marL="0" indent="0">
              <a:spcBef>
                <a:spcPts val="500"/>
              </a:spcBef>
              <a:buNone/>
            </a:pPr>
            <a:r>
              <a:rPr lang="en-US" sz="1900" dirty="0">
                <a:latin typeface="Times New Roman" panose="02020603050405020304" pitchFamily="18" charset="0"/>
                <a:cs typeface="Times New Roman" panose="02020603050405020304" pitchFamily="18" charset="0"/>
              </a:rPr>
              <a:t>Logistic Regression (Baseline): 53%</a:t>
            </a:r>
          </a:p>
          <a:p>
            <a:pPr marL="0" indent="0">
              <a:spcBef>
                <a:spcPts val="500"/>
              </a:spcBef>
              <a:buNone/>
            </a:pPr>
            <a:r>
              <a:rPr lang="en-US" sz="1900" dirty="0" err="1">
                <a:latin typeface="Times New Roman" panose="02020603050405020304" pitchFamily="18" charset="0"/>
                <a:cs typeface="Times New Roman" panose="02020603050405020304" pitchFamily="18" charset="0"/>
              </a:rPr>
              <a:t>XGBoost</a:t>
            </a:r>
            <a:r>
              <a:rPr lang="en-US" sz="1900" dirty="0">
                <a:latin typeface="Times New Roman" panose="02020603050405020304" pitchFamily="18" charset="0"/>
                <a:cs typeface="Times New Roman" panose="02020603050405020304" pitchFamily="18" charset="0"/>
              </a:rPr>
              <a:t>: 47%</a:t>
            </a:r>
          </a:p>
          <a:p>
            <a:pPr>
              <a:spcBef>
                <a:spcPts val="500"/>
              </a:spcBef>
            </a:pPr>
            <a:r>
              <a:rPr lang="en-US" sz="1900" b="1" dirty="0">
                <a:solidFill>
                  <a:schemeClr val="bg1"/>
                </a:solidFill>
                <a:latin typeface="Times New Roman" panose="02020603050405020304" pitchFamily="18" charset="0"/>
                <a:cs typeface="Times New Roman" panose="02020603050405020304" pitchFamily="18" charset="0"/>
              </a:rPr>
              <a:t>Key Findings:-</a:t>
            </a:r>
          </a:p>
          <a:p>
            <a:pPr marL="0" indent="0">
              <a:spcBef>
                <a:spcPts val="500"/>
              </a:spcBef>
              <a:buNone/>
            </a:pPr>
            <a:r>
              <a:rPr lang="en-US" sz="1900" dirty="0">
                <a:latin typeface="Times New Roman" panose="02020603050405020304" pitchFamily="18" charset="0"/>
                <a:cs typeface="Times New Roman" panose="02020603050405020304" pitchFamily="18" charset="0"/>
              </a:rPr>
              <a:t>Tuned Logistic Regression achieved the highest recall (87%), making it the most reliable model for detecting positive cervical cancer biopsy cases.</a:t>
            </a:r>
          </a:p>
          <a:p>
            <a:pPr marL="0" indent="0">
              <a:spcBef>
                <a:spcPts val="500"/>
              </a:spcBef>
              <a:buNone/>
            </a:pPr>
            <a:r>
              <a:rPr lang="en-US" sz="1900" dirty="0">
                <a:latin typeface="Times New Roman" panose="02020603050405020304" pitchFamily="18" charset="0"/>
                <a:cs typeface="Times New Roman" panose="02020603050405020304" pitchFamily="18" charset="0"/>
              </a:rPr>
              <a:t>Random Forest and </a:t>
            </a:r>
            <a:r>
              <a:rPr lang="en-US" sz="1900" dirty="0" err="1">
                <a:latin typeface="Times New Roman" panose="02020603050405020304" pitchFamily="18" charset="0"/>
                <a:cs typeface="Times New Roman" panose="02020603050405020304" pitchFamily="18" charset="0"/>
              </a:rPr>
              <a:t>XGBoost</a:t>
            </a:r>
            <a:r>
              <a:rPr lang="en-US" sz="1900" dirty="0">
                <a:latin typeface="Times New Roman" panose="02020603050405020304" pitchFamily="18" charset="0"/>
                <a:cs typeface="Times New Roman" panose="02020603050405020304" pitchFamily="18" charset="0"/>
              </a:rPr>
              <a:t> performed reasonably but missed more positive cases compared to LR.</a:t>
            </a:r>
          </a:p>
          <a:p>
            <a:pPr marL="0" indent="0">
              <a:spcBef>
                <a:spcPts val="500"/>
              </a:spcBef>
              <a:buNone/>
            </a:pPr>
            <a:r>
              <a:rPr lang="en-US" sz="1900" dirty="0">
                <a:latin typeface="Times New Roman" panose="02020603050405020304" pitchFamily="18" charset="0"/>
                <a:cs typeface="Times New Roman" panose="02020603050405020304" pitchFamily="18" charset="0"/>
              </a:rPr>
              <a:t>The large improvement from 53% → 87% after tuning shows the importance of hyperparameter optimization for medical prediction tasks.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1F140BF-3209-81DA-9E53-D51A27047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2013" y="865631"/>
            <a:ext cx="3975166" cy="3175427"/>
          </a:xfrm>
          <a:prstGeom prst="rect">
            <a:avLst/>
          </a:prstGeom>
          <a:ln w="12700">
            <a:solidFill>
              <a:schemeClr val="bg1">
                <a:lumMod val="95000"/>
                <a:lumOff val="5000"/>
              </a:schemeClr>
            </a:solidFill>
          </a:ln>
        </p:spPr>
      </p:pic>
      <p:sp>
        <p:nvSpPr>
          <p:cNvPr id="10" name="TextBox 9">
            <a:extLst>
              <a:ext uri="{FF2B5EF4-FFF2-40B4-BE49-F238E27FC236}">
                <a16:creationId xmlns:a16="http://schemas.microsoft.com/office/drawing/2014/main" id="{D32BB98E-E268-BA4D-8383-C0F631425E4E}"/>
              </a:ext>
            </a:extLst>
          </p:cNvPr>
          <p:cNvSpPr txBox="1"/>
          <p:nvPr/>
        </p:nvSpPr>
        <p:spPr>
          <a:xfrm>
            <a:off x="137184" y="5992369"/>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2443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6C92-6722-AB79-E1B2-444FC2388E3D}"/>
              </a:ext>
            </a:extLst>
          </p:cNvPr>
          <p:cNvSpPr>
            <a:spLocks noGrp="1"/>
          </p:cNvSpPr>
          <p:nvPr>
            <p:ph type="title"/>
          </p:nvPr>
        </p:nvSpPr>
        <p:spPr>
          <a:xfrm>
            <a:off x="1272077" y="439615"/>
            <a:ext cx="9647846" cy="1051474"/>
          </a:xfrm>
        </p:spPr>
        <p:txBody>
          <a:bodyPr/>
          <a:lstStyle/>
          <a:p>
            <a:r>
              <a:rPr lang="en-IN" sz="4400" dirty="0">
                <a:solidFill>
                  <a:schemeClr val="bg1"/>
                </a:solidFill>
                <a:latin typeface="Times New Roman" panose="02020603050405020304" pitchFamily="18" charset="0"/>
                <a:cs typeface="Times New Roman" panose="02020603050405020304" pitchFamily="18" charset="0"/>
              </a:rPr>
              <a:t>challenges</a:t>
            </a:r>
          </a:p>
        </p:txBody>
      </p:sp>
      <p:sp>
        <p:nvSpPr>
          <p:cNvPr id="3" name="Content Placeholder 2">
            <a:extLst>
              <a:ext uri="{FF2B5EF4-FFF2-40B4-BE49-F238E27FC236}">
                <a16:creationId xmlns:a16="http://schemas.microsoft.com/office/drawing/2014/main" id="{7CA2AD0E-24C0-55B3-84AC-BE42B5A98542}"/>
              </a:ext>
            </a:extLst>
          </p:cNvPr>
          <p:cNvSpPr>
            <a:spLocks noGrp="1"/>
          </p:cNvSpPr>
          <p:nvPr>
            <p:ph idx="1"/>
          </p:nvPr>
        </p:nvSpPr>
        <p:spPr>
          <a:xfrm>
            <a:off x="1141412" y="1491089"/>
            <a:ext cx="10121534" cy="4176073"/>
          </a:xfrm>
        </p:spPr>
        <p:txBody>
          <a:bodyPr>
            <a:normAutofit fontScale="40000" lnSpcReduction="20000"/>
          </a:bodyPr>
          <a:lstStyle/>
          <a:p>
            <a:r>
              <a:rPr lang="en-IN" sz="5800" b="1" dirty="0">
                <a:solidFill>
                  <a:schemeClr val="bg1"/>
                </a:solidFill>
                <a:latin typeface="Times New Roman" panose="02020603050405020304" pitchFamily="18" charset="0"/>
                <a:cs typeface="Times New Roman" panose="02020603050405020304" pitchFamily="18" charset="0"/>
              </a:rPr>
              <a:t>Missing Data:-</a:t>
            </a:r>
          </a:p>
          <a:p>
            <a:pPr marL="0" indent="0">
              <a:buNone/>
            </a:pPr>
            <a:r>
              <a:rPr lang="en-IN" sz="4500" dirty="0">
                <a:latin typeface="Times New Roman" panose="02020603050405020304" pitchFamily="18" charset="0"/>
                <a:cs typeface="Times New Roman" panose="02020603050405020304" pitchFamily="18" charset="0"/>
              </a:rPr>
              <a:t>The UCI dataset contains many missing values because some patients did not answer sensitive questions (sexual behaviour, STDs, etc.).</a:t>
            </a:r>
          </a:p>
          <a:p>
            <a:pPr marL="0" indent="0">
              <a:buNone/>
            </a:pPr>
            <a:r>
              <a:rPr lang="en-IN" sz="4500" dirty="0">
                <a:latin typeface="Times New Roman" panose="02020603050405020304" pitchFamily="18" charset="0"/>
                <a:cs typeface="Times New Roman" panose="02020603050405020304" pitchFamily="18" charset="0"/>
              </a:rPr>
              <a:t>Required careful preprocessing to avoid losing important information.</a:t>
            </a:r>
          </a:p>
          <a:p>
            <a:r>
              <a:rPr lang="en-IN" sz="5800" b="1" dirty="0">
                <a:solidFill>
                  <a:schemeClr val="bg1"/>
                </a:solidFill>
                <a:latin typeface="Times New Roman" panose="02020603050405020304" pitchFamily="18" charset="0"/>
                <a:cs typeface="Times New Roman" panose="02020603050405020304" pitchFamily="18" charset="0"/>
              </a:rPr>
              <a:t>Model Performance Variability</a:t>
            </a:r>
            <a:r>
              <a:rPr lang="en-IN" sz="7200" b="1" dirty="0">
                <a:solidFill>
                  <a:schemeClr val="bg1"/>
                </a:solidFill>
                <a:latin typeface="Times New Roman" panose="02020603050405020304" pitchFamily="18" charset="0"/>
                <a:cs typeface="Times New Roman" panose="02020603050405020304" pitchFamily="18" charset="0"/>
              </a:rPr>
              <a:t>:-</a:t>
            </a:r>
          </a:p>
          <a:p>
            <a:pPr marL="0" indent="0">
              <a:buNone/>
            </a:pPr>
            <a:r>
              <a:rPr lang="en-IN" sz="4500" dirty="0">
                <a:latin typeface="Times New Roman" panose="02020603050405020304" pitchFamily="18" charset="0"/>
                <a:cs typeface="Times New Roman" panose="02020603050405020304" pitchFamily="18" charset="0"/>
              </a:rPr>
              <a:t>Some models (e.g., SVM, Decision Tree) gave lower recall.</a:t>
            </a:r>
          </a:p>
          <a:p>
            <a:pPr marL="0" indent="0">
              <a:buNone/>
            </a:pPr>
            <a:r>
              <a:rPr lang="en-IN" sz="4500" dirty="0">
                <a:latin typeface="Times New Roman" panose="02020603050405020304" pitchFamily="18" charset="0"/>
                <a:cs typeface="Times New Roman" panose="02020603050405020304" pitchFamily="18" charset="0"/>
              </a:rPr>
              <a:t>For Other Models needed tuning to identify the best-performing model (Tuned Logistic Regression).</a:t>
            </a:r>
          </a:p>
          <a:p>
            <a:pPr marL="0" indent="0">
              <a:buNone/>
            </a:pPr>
            <a:r>
              <a:rPr lang="en-IN" sz="5800" b="1" dirty="0">
                <a:solidFill>
                  <a:schemeClr val="bg1"/>
                </a:solidFill>
                <a:latin typeface="Times New Roman" panose="02020603050405020304" pitchFamily="18" charset="0"/>
                <a:cs typeface="Times New Roman" panose="02020603050405020304" pitchFamily="18" charset="0"/>
              </a:rPr>
              <a:t>Computational Limits</a:t>
            </a:r>
            <a:r>
              <a:rPr lang="en-IN" sz="7200" b="1" dirty="0">
                <a:solidFill>
                  <a:schemeClr val="bg1"/>
                </a:solidFill>
                <a:latin typeface="Times New Roman" panose="02020603050405020304" pitchFamily="18" charset="0"/>
                <a:cs typeface="Times New Roman" panose="02020603050405020304" pitchFamily="18" charset="0"/>
              </a:rPr>
              <a:t>:-</a:t>
            </a:r>
          </a:p>
          <a:p>
            <a:pPr marL="0" indent="0">
              <a:buNone/>
            </a:pPr>
            <a:r>
              <a:rPr lang="en-IN" sz="4500" dirty="0">
                <a:latin typeface="Times New Roman" panose="02020603050405020304" pitchFamily="18" charset="0"/>
                <a:cs typeface="Times New Roman" panose="02020603050405020304" pitchFamily="18" charset="0"/>
              </a:rPr>
              <a:t>Running tuning methods like GridSearchCV in Colab requires time.</a:t>
            </a:r>
          </a:p>
          <a:p>
            <a:endParaRPr lang="en-IN" dirty="0"/>
          </a:p>
        </p:txBody>
      </p:sp>
      <p:sp>
        <p:nvSpPr>
          <p:cNvPr id="5" name="TextBox 4">
            <a:extLst>
              <a:ext uri="{FF2B5EF4-FFF2-40B4-BE49-F238E27FC236}">
                <a16:creationId xmlns:a16="http://schemas.microsoft.com/office/drawing/2014/main" id="{3FA2D740-6A10-7A85-BFEB-1E903ACF22F5}"/>
              </a:ext>
            </a:extLst>
          </p:cNvPr>
          <p:cNvSpPr txBox="1"/>
          <p:nvPr/>
        </p:nvSpPr>
        <p:spPr>
          <a:xfrm>
            <a:off x="313154" y="5841664"/>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060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9C26-F286-7EA0-3A5D-5EA374BB8C76}"/>
              </a:ext>
            </a:extLst>
          </p:cNvPr>
          <p:cNvSpPr>
            <a:spLocks noGrp="1"/>
          </p:cNvSpPr>
          <p:nvPr>
            <p:ph type="title"/>
          </p:nvPr>
        </p:nvSpPr>
        <p:spPr>
          <a:xfrm>
            <a:off x="1292468" y="439615"/>
            <a:ext cx="9621469" cy="945296"/>
          </a:xfrm>
        </p:spPr>
        <p:txBody>
          <a:bodyPr/>
          <a:lstStyle/>
          <a:p>
            <a:r>
              <a:rPr lang="en-IN" sz="4400" dirty="0">
                <a:solidFill>
                  <a:schemeClr val="bg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448FBB3-6A72-8779-2EA2-8C1D1B767FDE}"/>
              </a:ext>
            </a:extLst>
          </p:cNvPr>
          <p:cNvSpPr>
            <a:spLocks noGrp="1"/>
          </p:cNvSpPr>
          <p:nvPr>
            <p:ph idx="1"/>
          </p:nvPr>
        </p:nvSpPr>
        <p:spPr>
          <a:xfrm>
            <a:off x="1292468" y="1547446"/>
            <a:ext cx="9873763" cy="4627111"/>
          </a:xfrm>
        </p:spPr>
        <p:txBody>
          <a:bodyPr>
            <a:normAutofit/>
          </a:bodyPr>
          <a:lstStyle/>
          <a:p>
            <a:r>
              <a:rPr lang="en-US" sz="2000" dirty="0">
                <a:latin typeface="Times New Roman" panose="02020603050405020304" pitchFamily="18" charset="0"/>
                <a:cs typeface="Times New Roman" panose="02020603050405020304" pitchFamily="18" charset="0"/>
              </a:rPr>
              <a:t>Machine Learning demonstrates strong potential for predicting cervical cancer risk using simple, non-invasive behavioural and clinical features.</a:t>
            </a:r>
          </a:p>
          <a:p>
            <a:r>
              <a:rPr lang="en-US" sz="2000" dirty="0">
                <a:latin typeface="Times New Roman" panose="02020603050405020304" pitchFamily="18" charset="0"/>
                <a:cs typeface="Times New Roman" panose="02020603050405020304" pitchFamily="18" charset="0"/>
              </a:rPr>
              <a:t>The combination of behavioural factors (e.g., smoking, STDs) and medical history variables provided meaningful predictive signals, especially after proper preprocessing and feature handling.</a:t>
            </a:r>
          </a:p>
          <a:p>
            <a:r>
              <a:rPr lang="en-US" sz="2000" dirty="0">
                <a:latin typeface="Times New Roman" panose="02020603050405020304" pitchFamily="18" charset="0"/>
                <a:cs typeface="Times New Roman" panose="02020603050405020304" pitchFamily="18" charset="0"/>
              </a:rPr>
              <a:t>After comparing multiple models, Tuned Logistic Regression achieved the highest recall (87%), making it the most suitable for early-risk detection where identifying positive cases is critical.</a:t>
            </a:r>
          </a:p>
          <a:p>
            <a:r>
              <a:rPr lang="en-US" sz="2000" dirty="0">
                <a:latin typeface="Times New Roman" panose="02020603050405020304" pitchFamily="18" charset="0"/>
                <a:cs typeface="Times New Roman" panose="02020603050405020304" pitchFamily="18" charset="0"/>
              </a:rPr>
              <a:t>Overall, the project highlights how data-driven methods can support early screening, reduce missed diagnoses, and contribute to improving women’s healthcare outcomes, particularly in low-resource settings.</a:t>
            </a:r>
          </a:p>
        </p:txBody>
      </p:sp>
      <p:sp>
        <p:nvSpPr>
          <p:cNvPr id="5" name="TextBox 4">
            <a:extLst>
              <a:ext uri="{FF2B5EF4-FFF2-40B4-BE49-F238E27FC236}">
                <a16:creationId xmlns:a16="http://schemas.microsoft.com/office/drawing/2014/main" id="{6841818F-5408-8E21-0C0E-9E7B59996AD3}"/>
              </a:ext>
            </a:extLst>
          </p:cNvPr>
          <p:cNvSpPr txBox="1"/>
          <p:nvPr/>
        </p:nvSpPr>
        <p:spPr>
          <a:xfrm>
            <a:off x="0" y="6152426"/>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584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F96E-8C66-F138-FAD2-A92D2BFDE295}"/>
              </a:ext>
            </a:extLst>
          </p:cNvPr>
          <p:cNvSpPr>
            <a:spLocks noGrp="1"/>
          </p:cNvSpPr>
          <p:nvPr>
            <p:ph type="title"/>
          </p:nvPr>
        </p:nvSpPr>
        <p:spPr>
          <a:xfrm>
            <a:off x="1220542" y="150400"/>
            <a:ext cx="9350496" cy="927711"/>
          </a:xfrm>
        </p:spPr>
        <p:txBody>
          <a:bodyPr/>
          <a:lstStyle/>
          <a:p>
            <a:r>
              <a:rPr lang="en-IN" sz="4400" dirty="0">
                <a:solidFill>
                  <a:schemeClr val="bg1"/>
                </a:solidFill>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6B03623B-34EC-8F88-2405-4B8BC932026A}"/>
              </a:ext>
            </a:extLst>
          </p:cNvPr>
          <p:cNvSpPr>
            <a:spLocks noGrp="1"/>
          </p:cNvSpPr>
          <p:nvPr>
            <p:ph idx="1"/>
          </p:nvPr>
        </p:nvSpPr>
        <p:spPr>
          <a:xfrm>
            <a:off x="1220542" y="990188"/>
            <a:ext cx="10068781" cy="3380521"/>
          </a:xfrm>
        </p:spPr>
        <p:txBody>
          <a:bodyPr>
            <a:normAutofit/>
          </a:bodyPr>
          <a:lstStyle/>
          <a:p>
            <a:r>
              <a:rPr lang="en-US" sz="1800" b="1" dirty="0">
                <a:solidFill>
                  <a:schemeClr val="bg1"/>
                </a:solidFill>
                <a:latin typeface="Times New Roman" panose="02020603050405020304" pitchFamily="18" charset="0"/>
                <a:cs typeface="Times New Roman" panose="02020603050405020304" pitchFamily="18" charset="0"/>
              </a:rPr>
              <a:t>Advanced Hyperparameter Tuning:-</a:t>
            </a:r>
          </a:p>
          <a:p>
            <a:pPr marL="0" indent="0">
              <a:buNone/>
            </a:pPr>
            <a:r>
              <a:rPr lang="en-US" sz="1800" dirty="0">
                <a:latin typeface="Times New Roman" panose="02020603050405020304" pitchFamily="18" charset="0"/>
                <a:cs typeface="Times New Roman" panose="02020603050405020304" pitchFamily="18" charset="0"/>
              </a:rPr>
              <a:t>I need to use more systematic tuning methods (</a:t>
            </a:r>
            <a:r>
              <a:rPr lang="en-US" sz="1800" dirty="0" err="1">
                <a:latin typeface="Times New Roman" panose="02020603050405020304" pitchFamily="18" charset="0"/>
                <a:cs typeface="Times New Roman" panose="02020603050405020304" pitchFamily="18" charset="0"/>
              </a:rPr>
              <a:t>GridSearchCV</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RandomizedSearchCV</a:t>
            </a:r>
            <a:r>
              <a:rPr lang="en-US" sz="1800" dirty="0">
                <a:latin typeface="Times New Roman" panose="02020603050405020304" pitchFamily="18" charset="0"/>
                <a:cs typeface="Times New Roman" panose="02020603050405020304" pitchFamily="18" charset="0"/>
              </a:rPr>
              <a:t>, Bayesian optimization) to improve overall model performance and stability.</a:t>
            </a:r>
          </a:p>
          <a:p>
            <a:r>
              <a:rPr lang="en-US" sz="1800" b="1" dirty="0">
                <a:solidFill>
                  <a:schemeClr val="bg1"/>
                </a:solidFill>
                <a:latin typeface="Times New Roman" panose="02020603050405020304" pitchFamily="18" charset="0"/>
                <a:cs typeface="Times New Roman" panose="02020603050405020304" pitchFamily="18" charset="0"/>
              </a:rPr>
              <a:t>Handle Class Imbalance with SMOTE:-</a:t>
            </a:r>
          </a:p>
          <a:p>
            <a:pPr marL="0" indent="0">
              <a:buNone/>
            </a:pPr>
            <a:r>
              <a:rPr lang="en-US" sz="1800" dirty="0">
                <a:latin typeface="Times New Roman" panose="02020603050405020304" pitchFamily="18" charset="0"/>
                <a:cs typeface="Times New Roman" panose="02020603050405020304" pitchFamily="18" charset="0"/>
              </a:rPr>
              <a:t>I need to apply SMOTE or other resampling techniques to synthetically balance positive biopsy cases, which can further improve recall and reduce false negatives.</a:t>
            </a:r>
          </a:p>
          <a:p>
            <a:r>
              <a:rPr lang="en-US" sz="1800" b="1" dirty="0">
                <a:solidFill>
                  <a:schemeClr val="bg1"/>
                </a:solidFill>
                <a:latin typeface="Times New Roman" panose="02020603050405020304" pitchFamily="18" charset="0"/>
                <a:cs typeface="Times New Roman" panose="02020603050405020304" pitchFamily="18" charset="0"/>
              </a:rPr>
              <a:t>Modifications in Deep Learning Model (ANN):-</a:t>
            </a:r>
          </a:p>
          <a:p>
            <a:endParaRPr lang="en-IN" sz="1800" dirty="0"/>
          </a:p>
        </p:txBody>
      </p:sp>
      <p:pic>
        <p:nvPicPr>
          <p:cNvPr id="5" name="Picture 4">
            <a:extLst>
              <a:ext uri="{FF2B5EF4-FFF2-40B4-BE49-F238E27FC236}">
                <a16:creationId xmlns:a16="http://schemas.microsoft.com/office/drawing/2014/main" id="{CE96C1E8-EAF6-A97A-E560-094C52D530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499" y="3874416"/>
            <a:ext cx="6869138" cy="2734058"/>
          </a:xfrm>
          <a:prstGeom prst="rect">
            <a:avLst/>
          </a:prstGeom>
          <a:ln w="12700">
            <a:solidFill>
              <a:schemeClr val="bg1"/>
            </a:solidFill>
          </a:ln>
        </p:spPr>
      </p:pic>
      <p:sp>
        <p:nvSpPr>
          <p:cNvPr id="7" name="TextBox 6">
            <a:extLst>
              <a:ext uri="{FF2B5EF4-FFF2-40B4-BE49-F238E27FC236}">
                <a16:creationId xmlns:a16="http://schemas.microsoft.com/office/drawing/2014/main" id="{A1691551-4DE2-782F-2B2F-C2FCE5CDE49F}"/>
              </a:ext>
            </a:extLst>
          </p:cNvPr>
          <p:cNvSpPr txBox="1"/>
          <p:nvPr/>
        </p:nvSpPr>
        <p:spPr>
          <a:xfrm>
            <a:off x="0" y="6488668"/>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3895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760A3-25EC-47C5-BBAC-87D71C47D061}"/>
              </a:ext>
            </a:extLst>
          </p:cNvPr>
          <p:cNvSpPr>
            <a:spLocks noGrp="1"/>
          </p:cNvSpPr>
          <p:nvPr>
            <p:ph type="title"/>
          </p:nvPr>
        </p:nvSpPr>
        <p:spPr>
          <a:xfrm>
            <a:off x="1248508" y="398582"/>
            <a:ext cx="9798903" cy="1030289"/>
          </a:xfrm>
        </p:spPr>
        <p:txBody>
          <a:bodyPr/>
          <a:lstStyle/>
          <a:p>
            <a:r>
              <a:rPr lang="en-IN" sz="4400" dirty="0">
                <a:solidFill>
                  <a:schemeClr val="bg1"/>
                </a:solidFill>
                <a:latin typeface="Times New Roman" panose="02020603050405020304" pitchFamily="18" charset="0"/>
                <a:cs typeface="Times New Roman" panose="02020603050405020304" pitchFamily="18" charset="0"/>
              </a:rPr>
              <a:t>REFRERENCE</a:t>
            </a:r>
          </a:p>
        </p:txBody>
      </p:sp>
      <p:sp>
        <p:nvSpPr>
          <p:cNvPr id="3" name="Content Placeholder 2">
            <a:extLst>
              <a:ext uri="{FF2B5EF4-FFF2-40B4-BE49-F238E27FC236}">
                <a16:creationId xmlns:a16="http://schemas.microsoft.com/office/drawing/2014/main" id="{22FACCD2-E4F0-A39D-51F2-E804E55D0BAF}"/>
              </a:ext>
            </a:extLst>
          </p:cNvPr>
          <p:cNvSpPr>
            <a:spLocks noGrp="1"/>
          </p:cNvSpPr>
          <p:nvPr>
            <p:ph idx="1"/>
          </p:nvPr>
        </p:nvSpPr>
        <p:spPr>
          <a:xfrm>
            <a:off x="1194960" y="1658143"/>
            <a:ext cx="9852452" cy="3441395"/>
          </a:xfrm>
        </p:spPr>
        <p:txBody>
          <a:bodyPr>
            <a:normAutofit fontScale="25000" lnSpcReduction="20000"/>
          </a:bodyPr>
          <a:lstStyle/>
          <a:p>
            <a:r>
              <a:rPr lang="en-IN" sz="8000" dirty="0">
                <a:latin typeface="Times New Roman" panose="02020603050405020304" pitchFamily="18" charset="0"/>
                <a:cs typeface="Times New Roman" panose="02020603050405020304" pitchFamily="18" charset="0"/>
              </a:rPr>
              <a:t>Fernandes, K., Cardoso, J.S. &amp; Fernandes, J., 2017. Transfer learning with partial observability applied to cervical cancer screening. Iberian Conference on Pattern Recognition and Image Analysis (IBPRIA), pp. 1–8.</a:t>
            </a:r>
          </a:p>
          <a:p>
            <a:r>
              <a:rPr lang="en-IN" sz="80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https://ieeexplore.ieee.org/abstract/document/10725056</a:t>
            </a:r>
            <a:endParaRPr lang="en-IN" sz="8000" dirty="0">
              <a:latin typeface="Times New Roman" panose="02020603050405020304" pitchFamily="18" charset="0"/>
              <a:cs typeface="Times New Roman" panose="02020603050405020304" pitchFamily="18" charset="0"/>
            </a:endParaRPr>
          </a:p>
          <a:p>
            <a:r>
              <a:rPr lang="en-IN" sz="8000" dirty="0">
                <a:latin typeface="Times New Roman" panose="02020603050405020304" pitchFamily="18" charset="0"/>
                <a:cs typeface="Times New Roman" panose="02020603050405020304" pitchFamily="18" charset="0"/>
              </a:rPr>
              <a:t>Kessler, T.A., 2017. Cervical cancer: Prevention and early detection. Seminars in Oncology Nursing, 33(2), pp.172–183.</a:t>
            </a:r>
          </a:p>
          <a:p>
            <a:r>
              <a:rPr lang="en-IN" sz="80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https://archive.ics.uci.edu/dataset/383/cervical+cancer+risk+factors</a:t>
            </a:r>
            <a:endParaRPr lang="en-IN" sz="8000" dirty="0">
              <a:latin typeface="Times New Roman" panose="02020603050405020304" pitchFamily="18" charset="0"/>
              <a:cs typeface="Times New Roman" panose="02020603050405020304" pitchFamily="18" charset="0"/>
            </a:endParaRPr>
          </a:p>
          <a:p>
            <a:r>
              <a:rPr lang="en-IN" sz="8000" dirty="0">
                <a:latin typeface="Times New Roman" panose="02020603050405020304" pitchFamily="18" charset="0"/>
                <a:cs typeface="Times New Roman" panose="02020603050405020304" pitchFamily="18" charset="0"/>
              </a:rPr>
              <a:t>Varshini, S.H., Aadhil, M., Sasvath, K.R., Thangamani, R. &amp; Vimaladevi, M., 2024. Cervical cancer prediction using machine learning. 15th ICCCNT Conference, pp. 1–7.</a:t>
            </a:r>
          </a:p>
          <a:p>
            <a:r>
              <a:rPr lang="en-IN" sz="80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https://www.sciencedirect.com/science/article/pii/S0749208117300153</a:t>
            </a:r>
            <a:endParaRPr lang="en-IN" sz="8000"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4B0E14E5-74BE-CB45-5F75-E608A538C3EF}"/>
              </a:ext>
            </a:extLst>
          </p:cNvPr>
          <p:cNvSpPr txBox="1"/>
          <p:nvPr/>
        </p:nvSpPr>
        <p:spPr>
          <a:xfrm>
            <a:off x="476982" y="5791201"/>
            <a:ext cx="6106258"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https://github.com/thulluri-ramya/Graduation-project-</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57255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262</TotalTime>
  <Words>1054</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Tw Cen MT</vt:lpstr>
      <vt:lpstr>Circuit</vt:lpstr>
      <vt:lpstr>From Behavior to Burden: Understanding Cervical  Cancer Risks</vt:lpstr>
      <vt:lpstr>Introduction &amp; motivation</vt:lpstr>
      <vt:lpstr>literature survey</vt:lpstr>
      <vt:lpstr>research questions</vt:lpstr>
      <vt:lpstr>data set overview &amp; data processing </vt:lpstr>
      <vt:lpstr>Implementation &amp; methodology</vt:lpstr>
      <vt:lpstr>Hyperparameter Tuning</vt:lpstr>
      <vt:lpstr>results</vt:lpstr>
      <vt:lpstr>challenges</vt:lpstr>
      <vt:lpstr>conclusion</vt:lpstr>
      <vt:lpstr>future work</vt:lpstr>
      <vt:lpstr>REFRERENCE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2505710-- Pasumarthi Jagadeeswara rao</dc:creator>
  <cp:lastModifiedBy>makkena sudheer</cp:lastModifiedBy>
  <cp:revision>17</cp:revision>
  <dcterms:created xsi:type="dcterms:W3CDTF">2025-11-21T10:29:03Z</dcterms:created>
  <dcterms:modified xsi:type="dcterms:W3CDTF">2025-11-27T12:16:41Z</dcterms:modified>
</cp:coreProperties>
</file>